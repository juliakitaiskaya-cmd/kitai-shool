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Знакомство: кто я и о чём этот план. Главная мысль — за месяц язык не выучить, но можно перестать его бояться.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Сразу снимаем завышенные ожидания: месяц даёт основу, а не свободную речь. И сразу показываем следующую цель, чтобы план не выглядел тупиковым.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 занятия: регулярность важнее объёма. Седьмой день не пропускать — он держит всё остальное.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маршрут целиком, чтобы у слушателя была карта. Дальше идём по шагам.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Разбираем звуки, которые русскому уху непривычны. Просим повторять вслух прямо на занятии.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стоит произнести все четыре слога вслух и попросить группу повторить хором. Мелодию объясняем голосом, а не словами.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Двадцать слов — не для зубрёжки со слайда, а чтобы показать: набор маленький и посильный. Карточки повторяем трижды: сегодня, через три дня и через неделю. Список раздаём после занятия.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Хорошо показать порядок черт прямо на доске: 木 в четыре движения. Это запоминается лучше любого списка правил.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ошибки, которые встречаются у всех: 是 перед прилагательным и перестановка слов в вопросе. Проговариваем их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Полезно включить на занятии короткий диалог и пройти все три прослушивания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Финальное задание месяца. Хорошо, если каждый расскажет о себе вслух прямо на занятии.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Раздаём распечатку чек-листа. Отмечать дни руками — простой и работающий способ не бросить.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хорошо заходит вопросом в зал: кто узнал себя? Дальше показываем, что все пять лечатся режимом.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Даём слушателю понятную следующую ступень. Цифры по HSK 1 — по действующей редакции экзамена.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Приглашение продолжить с преподавателем и контакты. Здесь же можно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dirty="0">
                <a:solidFill>
                  <a:srgbClr val="3B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汉语</a:t>
            </a:r>
            <a:endParaRPr lang="en-US" sz="19000" dirty="0"/>
          </a:p>
        </p:txBody>
      </p:sp>
      <p:pic>
        <p:nvPicPr>
          <p:cNvPr id="3" name="Image 0" descr="/home/user/Kitai-Shool/content/presentations/kitajskij-s-nulya-30-dnej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1737360" cy="694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05740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Китайский с нуля:</a:t>
            </a:r>
            <a:endParaRPr lang="en-US" sz="4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2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первые 30 дней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шагов, задания на каждый день и понятная цель в конце месяца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Юлия Горяина</a:t>
            </a:r>
            <a:pPr indent="0" marL="0">
              <a:buNone/>
            </a:pPr>
            <a:r>
              <a:rPr lang="en-US" sz="12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китаист, докторант Шаньдунского университета, основатель Kitai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будет через тридцать дней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78408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774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74320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Прочитаете вслух любое китайское слово, записанное латинскими буквами.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8264" y="1508760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90872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3774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Слышите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74320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Отличите слова, которые звучат одинаково, но сказаны с разной мелодией.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0728" y="1508760"/>
            <a:ext cx="340156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03336" y="1691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37744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Пишете и говорите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74320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Напишете десять иероглифов от руки и расскажете о себе шестью фразами.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10817352" cy="1920240"/>
          </a:xfrm>
          <a:prstGeom prst="roundRect">
            <a:avLst>
              <a:gd name="adj" fmla="val 6667"/>
            </a:avLst>
          </a:prstGeom>
          <a:solidFill>
            <a:srgbClr val="F7E6EB"/>
          </a:solidFill>
          <a:ln w="9525">
            <a:solidFill>
              <a:srgbClr val="EFD3DB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51560" y="4315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ЧЕСТНО ЖДАТЬ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617720"/>
            <a:ext cx="10085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 вы не заговорите: за тридцать дней так не бывает ни в одном языке. Зато будет то, с чем можно спокойно идти дальше. Следующая понятная ступенька — первый уровень HSK, международного экзамена по китайскому. До него обычно доходят за несколько месяцев спокойных занятий.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заниматься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1783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минут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06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день, шесть дней в неделю. Седьмой день — только повторяем, ничего нового.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00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минут каждый день дают больше, чем три часа в воскресенье.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50876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29400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ПРИГОТОВИТЬ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1031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в клетку и карандаш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в телефоне: Pleco или БКРС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стопку карточек или пачку стикеров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наушники и телефон — записывать свой голос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10817352" cy="1874520"/>
          </a:xfrm>
          <a:prstGeom prst="roundRect">
            <a:avLst>
              <a:gd name="adj" fmla="val 6829"/>
            </a:avLst>
          </a:prstGeom>
          <a:solidFill>
            <a:srgbClr val="FCF6E2"/>
          </a:solidFill>
          <a:ln w="9525">
            <a:solidFill>
              <a:srgbClr val="EFE3C2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3708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СЕДЬМОГО ДНЯ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681728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Достаёте карточки за неделю, вслух перечитываете свои фразы, переписываете два иероглифа, которые держатся хуже всех. Кажется, что день потрачен зря, но именно он и закрепляет выученное.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 чем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шагов по дням. Каждый следующий опирается на предыдущий, поэтому порядок лучше не менять.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1480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ЗАНИМАЕМСЯ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ПОЯВИТСЯ В ИТОГЕ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Учимся читать латиницей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прочитаете вслух любое слово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Слышим мелодию слова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отличите «маму» от «лошади»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Первые 20 слов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слова, которые не забываются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устроен иероглиф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напишете десять знаков от руки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Первые фразы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скажете, спросите и возразите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Слушаем и повторяем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поймёте короткий разговор на слух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Собираем всё вместе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расскажете о себе шестью фразами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00584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F1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</a:t>
            </a:r>
            <a:endParaRPr lang="en-US" sz="20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1–3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научимся читать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Китайские слова записывают не только иероглифами. Есть официальная запись латинскими буквами — пиньинь, с неё начинают все, включая китайских первоклассников.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Слог устроен просто: начало, хвост и мелодия. Всего слогов чуть больше четырёхсот.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4480560" cy="1874520"/>
          </a:xfrm>
          <a:prstGeom prst="roundRect">
            <a:avLst>
              <a:gd name="adj" fmla="val 6829"/>
            </a:avLst>
          </a:prstGeom>
          <a:solidFill>
            <a:srgbClr val="FCF6E2"/>
          </a:solidFill>
          <a:ln w="9525">
            <a:solidFill>
              <a:srgbClr val="EFE3C2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9028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Прочитайте вслух двадцать слогов и запишите себя на телефон. Послушайте запись через день: звуки, которые вчера казались одинаковыми, станут разными.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1600200"/>
            <a:ext cx="5925312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0" y="1828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БУКВ, КОТОРЫЕ ЧАЩЕ ВСЕГО ЧИТАЮТ НЕВЕРНО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9456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ПИШЕТСЯ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ЗВУЧИТ КАК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qi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ци, мягко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xie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сье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«ксие»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zhi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чжи, язык назад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«зи»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 с загнутым языком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«ри»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nü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нюй, губы трубочкой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«ну»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4–6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слова своя мелодия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и те же звуки, сказанные с разной мелодией, — это разные слова.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173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411480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ДЕЛАЕТ ГОЛОС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妈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mā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ровно и высоко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мама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麻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идёт вверх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конопля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mǎ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вниз и обратно вверх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лошадь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mà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резко падает вниз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ругать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57200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ЭТО ПОХОЖЕ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и высоко — как тянут «а-а-а» у врача;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 — как русское вопросительное «да?»;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 — как короткое «стой!».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45352" y="457200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7E6EB"/>
          </a:solidFill>
          <a:ln w="9525">
            <a:solidFill>
              <a:srgbClr val="EFD3DB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65392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565392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Отложить мелодию на потом. Она не украшение, а часть слова: без неё вас не поймут, а переучиваться дольше, чем выучить сразу.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7–10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двадцать слов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пять слов в день. Каждое произносим вслух и сразу вставляем в короткую фразу.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nǐ hǎo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здравствуйте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谢谢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xièxie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спасибо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对不起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duìbuqǐ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извините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nǐ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tā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shì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bù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yǒu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иметь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hǎo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什么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shénme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名字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míngzi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Zhōngguó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Китай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rén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человек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老师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lǎoshī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xuésheng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hē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chī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shuǐ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茶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chá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11–15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Иероглиф не рисуют, его собирают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черты. Из черт складываются кусочки со своим смыслом, их называют ключами. А из кусочков — целый знак.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52578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ВИДЕН В ЧАСТЯХ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871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木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дерево   →   </a:t>
            </a:r>
            <a:pPr indent="0" marL="0">
              <a:buNone/>
            </a:pPr>
            <a:r>
              <a:rPr lang="en-US" sz="3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роща   →   </a:t>
            </a:r>
            <a:pPr indent="0" marL="0">
              <a:buNone/>
            </a:pPr>
            <a:r>
              <a:rPr lang="en-US" sz="30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лес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женщина  +  </a:t>
            </a:r>
            <a:pPr indent="0" marL="0">
              <a:buNone/>
            </a:pPr>
            <a:r>
              <a:rPr lang="en-US" sz="26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ребёнок  =  </a:t>
            </a:r>
            <a:pPr indent="0" marL="0">
              <a:buNone/>
            </a:pPr>
            <a:r>
              <a:rPr lang="en-US" sz="2600" dirty="0">
                <a:solidFill>
                  <a:srgbClr val="A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</a:t>
            </a:r>
            <a:pPr indent="0" marL="0">
              <a:buNone/>
            </a:pPr>
            <a:r>
              <a:rPr lang="en-US" sz="13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«хорошо»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45352" y="1920240"/>
            <a:ext cx="52578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65392" y="2121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ВЕСТИ РУКУ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487168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вниз и слева направо;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горизонтальная черта, потом вертикальная;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откидная влево, потом вправо;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 раньше того, что внутри, нижняя сторона — последней.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29768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FCF6E2"/>
          </a:solidFill>
          <a:ln w="9525">
            <a:solidFill>
              <a:srgbClr val="EFE3C2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44988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НА ПЯТЬ ДНЕЙ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— два новых знака, по пять строчек в клетке. Пишете и вслух говорите, как читается.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45352" y="4297680"/>
            <a:ext cx="5257800" cy="1691640"/>
          </a:xfrm>
          <a:prstGeom prst="roundRect">
            <a:avLst>
              <a:gd name="adj" fmla="val 7568"/>
            </a:avLst>
          </a:prstGeom>
          <a:solidFill>
            <a:srgbClr val="F7E6EB"/>
          </a:solidFill>
          <a:ln w="9525">
            <a:solidFill>
              <a:srgbClr val="EFD3DB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65392" y="4498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Срисовывать знак как картинку, начиная с любого места. Внешне получится похоже, но рука знак не запомнит.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16–20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фразы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китайском нет падежей, родов и спряжений. Слова не меняются — меняется их место во фразе. Порядок такой же, как в русском: кто — что делает — что.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58795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ФРАЗА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И ЧТО ЗАПОМНИТЬ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我喝茶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hē chá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пью чай. Тот самый порядок слов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我不喝茶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bù hē chá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не пью чай. Отрицание 不 — перед действием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你好吗？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nǐ hǎo ma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дела? Словечко 吗 в конце делает вопрос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这是什么？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zhè shì shénme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это? Вопрос стоит там же, где будет ответ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我很好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hěn hǎo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меня всё хорошо. Здесь 是 не нужно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800600"/>
            <a:ext cx="10817352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51560" y="4983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ВЕЩИ, КОТОРЫЕ СЭКОНОМЯТ МЕСЯЦЫ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5266944"/>
            <a:ext cx="10085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 — это «быть кем-то или чем-то»: 我是学生, «я ученик». Перед словом, которое называет качество, она не нужна. А чтобы задать вопрос, ничего переставлять не надо: берём обычную фразу и добавляем в конец 吗.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138160" y="100584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F1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</a:t>
            </a:r>
            <a:endParaRPr lang="en-US" sz="20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21–25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Слушаем и повторяем вслух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третьей неделе многие замечают неприятную вещь: глазами слово узнаёте, а на слух — нет. Лечится это только ежедневным слушанием с повторением вслух. Хватит десяти минут.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78408" y="24505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303580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раз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3364992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слушаете полминуты, ничего не читая, и ловите знакомые слова.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98264" y="228600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90872" y="24505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03580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раз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364992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Слушаете и следите глазами по тексту. Сразу видно места, где ухо подвело.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0728" y="2286000"/>
            <a:ext cx="340156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03336" y="24505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3035808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раз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403336" y="3364992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Говорите вместе с диктором, стараясь попасть в его скорость.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10817352" cy="1417320"/>
          </a:xfrm>
          <a:prstGeom prst="roundRect">
            <a:avLst>
              <a:gd name="adj" fmla="val 9032"/>
            </a:avLst>
          </a:prstGeom>
          <a:solidFill>
            <a:srgbClr val="F7E6EB"/>
          </a:solidFill>
          <a:ln w="9525">
            <a:solidFill>
              <a:srgbClr val="EFD3DB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5156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047488"/>
            <a:ext cx="10085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Включать китайский фоном, между делом. Так ухо не учится: без внимания и без повторения вслух звук проходит мимо. Раз в пару дней записывайте себя и сравнивайте с оригиналом — по-другому ошибки в мелодии не заметить.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840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57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26–30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6766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Собираем всё вместе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63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Последние пять дней — ничего нового. Складываем выученное в рассказ о себе и повторяем, пока он не пойдёт без запинки.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ЗАГОТОВКА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8B7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ED5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你好！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nǐ hǎo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Здравствуйте!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我叫 ___。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jiào ___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 зовут ___.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我是学生。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shì xuésheng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ученик.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我学习汉语。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xuéxí Hànyǔ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учу китайский.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我喜欢喝茶。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wǒ xǐhuan hē chá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люблю пить чай.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C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认识你很高兴。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i="1" dirty="0">
                          <a:solidFill>
                            <a:srgbClr val="A41E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rènshi nǐ hěn gāoxìng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4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Приятно познакомиться.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A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874520"/>
            <a:ext cx="3730752" cy="3931920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92440" y="2084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 СЕБЯ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432304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читаю вслух незнакомое слово, записанное латиницей;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слышу мелодию слова;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пишу по памяти десять иероглифов;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говорю фразу, отрицание и вопрос;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рассказываю о себе шестью фразами.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Чек-лист на тридцать дней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Закрашивайте по одному. Пропустили день — закрашиваете следующий и продолжаете: один пропуск плана не рушит.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5820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51660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4812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30652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3804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09644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82796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8636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1788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7628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0780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6620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9772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5612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8764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04604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77756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83596" y="1965960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56748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2668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51660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24812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30652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03804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09644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82796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88636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61788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67628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0780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46620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9772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25612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98764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04604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77756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483596" y="3044952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56748" y="3099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2668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5820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51660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24812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30652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003804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009644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82796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88636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161788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67628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40780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46620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19772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25612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98764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404604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477756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483596" y="4123944"/>
            <a:ext cx="932688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DED5C6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556748" y="4178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685800" y="52578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1–6 · читаем и слышим     ·     Дни 7–15 · слова и знаки     ·     Дни 16–25 · фразы и слух     ·     Дни 26–30 · рассказ о себе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685800" y="57150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же страница есть в гайде — её удобно распечатать и повесить на видное место.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1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причин, по которым бросают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двадцать лет преподавания список почти не меняется. И ни одна причина не про способности.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40156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1168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Учить слова без мелодии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24328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«Потом поставлю» не работает: мелодия — такая же часть слова, как звуки.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8264" y="1783080"/>
            <a:ext cx="340156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72584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201168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Заниматься редко и помногу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624328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часа в воскресенье проигрывают двадцати минутам каждый день.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783080"/>
            <a:ext cx="340156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85048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01168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Зубрить списки слов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624328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Слово, которое ни разу не стояло во фразе, в речи не всплывёт.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340156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0120" y="4096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16052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Срисовывать иероглифы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773168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правильного порядка рука не запоминает знак.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98264" y="3931920"/>
            <a:ext cx="340156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72584" y="4096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175504" y="416052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4773168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Произношение ставится только вслух и только когда кто-то поправляет.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 School · kitai-school.ru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588752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Следующая цель — первый уровень HSK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HSK — международный экзамен по китайскому. Первый уровень сдают уже после нескольких месяцев спокойных занятий.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40156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08483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 в программе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340156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98264" y="208483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части: слушаем и читаем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10728" y="1874520"/>
            <a:ext cx="3401568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10728" y="208483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баллов из 200 для зачёта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3931920"/>
            <a:ext cx="1081735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AE3D8"/>
            </a:solidFill>
            <a:prstDash val="solid"/>
          </a:ln>
          <a:effectLst>
            <a:outerShdw sx="100000" sy="100000" kx="0" ky="0" algn="bl" rotWithShape="0" blurRad="177800" dist="635" dir="5400000">
              <a:srgbClr val="2C2420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51560" y="4160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498848"/>
            <a:ext cx="10085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 иероглифами в заданиях напечатано чтение латиницей, поэтому читать вслепую не придётся;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письменной части на первом уровне нет, все задания с выбором ответа;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 нужен для программ обмена и стипендий, а ещё он хорошо держит мотивацию.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80960" y="731520"/>
            <a:ext cx="438912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B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加油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Тридцать дней позади.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A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 — интереснее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1089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8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трудное в китайском — первый месяц, когда чужое всё сразу: и звуки, и знаки, и сама логика. Дальше знакомые части узнаются в новых иероглифах, а фразы собираются из того, что вы уже знаете.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4805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 с преподавателем — русским или китайским, по одному и в маленьких группах, от нуля до подготовки к экзамену.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D9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kitai-school.ru        Телеграм-канал @kitai_school</a:t>
            </a:r>
            <a:endParaRPr lang="en-US" sz="1400" dirty="0"/>
          </a:p>
        </p:txBody>
      </p:sp>
      <p:pic>
        <p:nvPicPr>
          <p:cNvPr id="6" name="Image 0" descr="/home/user/Kitai-Shool/content/presentations/kitajskij-s-nulya-30-dnej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0"/>
            <a:ext cx="1554480" cy="621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Kitai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Китайский с нуля: план на первые 30 дней</dc:title>
  <dc:subject>PptxGenJS Presentation</dc:subject>
  <dc:creator>Kitai School</dc:creator>
  <cp:lastModifiedBy>Kitai School</cp:lastModifiedBy>
  <cp:revision>1</cp:revision>
  <dcterms:created xsi:type="dcterms:W3CDTF">2026-09-04T16:38:09Z</dcterms:created>
  <dcterms:modified xsi:type="dcterms:W3CDTF">2026-09-04T16:38:09Z</dcterms:modified>
</cp:coreProperties>
</file>